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Light"/>
      <p:regular r:id="rId17"/>
      <p:bold r:id="rId18"/>
    </p:embeddedFont>
    <p:embeddedFont>
      <p:font typeface="Anton"/>
      <p:regular r:id="rId19"/>
    </p:embeddedFont>
    <p:embeddedFont>
      <p:font typeface="Manrope SemiBold"/>
      <p:regular r:id="rId20"/>
      <p:bold r:id="rId21"/>
    </p:embeddedFont>
    <p:embeddedFont>
      <p:font typeface="Manrope"/>
      <p:regular r:id="rId22"/>
      <p:bold r:id="rId23"/>
    </p:embeddedFont>
    <p:embeddedFont>
      <p:font typeface="Manrope ExtraBold"/>
      <p:bold r:id="rId24"/>
    </p:embeddedFont>
    <p:embeddedFont>
      <p:font typeface="Manrope Medium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Manrope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ManropeExtraBold-bold.fntdata"/><Relationship Id="rId23" Type="http://schemas.openxmlformats.org/officeDocument/2006/relationships/font" Target="fonts/Manrop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Medium-bold.fntdata"/><Relationship Id="rId25" Type="http://schemas.openxmlformats.org/officeDocument/2006/relationships/font" Target="fonts/Manrope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Light-regular.fntdata"/><Relationship Id="rId16" Type="http://schemas.openxmlformats.org/officeDocument/2006/relationships/slide" Target="slides/slide11.xml"/><Relationship Id="rId19" Type="http://schemas.openxmlformats.org/officeDocument/2006/relationships/font" Target="fonts/Anton-regular.fntdata"/><Relationship Id="rId18" Type="http://schemas.openxmlformats.org/officeDocument/2006/relationships/font" Target="fonts/Manrope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b25bb8c12a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b25bb8c12a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b25bb8c12a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b25bb8c12a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b25bb8c12a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b25bb8c12a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b25bb8c12a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b25bb8c12a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b25bb8c12a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b25bb8c12a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b25bb8c12a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b25bb8c12a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b25bb8c12a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b25bb8c12a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b25bb8c12a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b25bb8c12a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b25bb8c12a_0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b25bb8c12a_0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b25bb8c12a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3b25bb8c12a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b25bb8c12a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b25bb8c12a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2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5" name="Google Shape;105;p2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6" name="Google Shape;106;p2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1" name="Google Shape;111;p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5" name="Google Shape;115;p4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4" name="Google Shape;124;p4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31" name="Google Shape;131;p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0" name="Google Shape;140;p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p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42" name="Google Shape;142;p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43" name="Google Shape;143;p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4" name="Google Shape;144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7" name="Google Shape;147;p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8" name="Google Shape;148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0" name="Google Shape;150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1" name="Google Shape;151;p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2" name="Google Shape;152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3" name="Google Shape;153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4" name="Google Shape;154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5" name="Google Shape;155;p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6" name="Google Shape;156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" name="Google Shape;157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" name="Google Shape;158;p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9" name="Google Shape;159;p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1" name="Google Shape;161;p5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2" name="Google Shape;162;p5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4" name="Google Shape;164;p5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5" name="Google Shape;165;p5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6" name="Google Shape;166;p5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7" name="Google Shape;167;p5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8" name="Google Shape;168;p5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6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6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4" name="Google Shape;174;p6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5" name="Google Shape;175;p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6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5" name="Google Shape;185;p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94" name="Google Shape;194;p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1" name="Google Shape;201;p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2" name="Google Shape;202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3" name="Google Shape;203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4" name="Google Shape;204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5" name="Google Shape;205;p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6" name="Google Shape;206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9" name="Google Shape;209;p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10" name="Google Shape;210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3" name="Google Shape;213;p7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4" name="Google Shape;214;p7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5" name="Google Shape;215;p7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6" name="Google Shape;216;p7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7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7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7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8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8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7" name="Google Shape;227;p8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28" name="Google Shape;228;p8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p9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9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1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41" name="Google Shape;241;p1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4" name="Google Shape;244;p1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53" name="Google Shape;253;p1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1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55" name="Google Shape;255;p1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6" name="Google Shape;256;p1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8" name="Google Shape;268;p1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9" name="Google Shape;269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71" name="Google Shape;271;p1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276" name="Google Shape;276;p12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277" name="Google Shape;277;p12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78" name="Google Shape;278;p12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p12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12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5" name="Google Shape;285;p12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6" name="Google Shape;286;p12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3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13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3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2" name="Google Shape;292;p1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96" name="Google Shape;296;p1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3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02" name="Google Shape;3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4" name="Google Shape;324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25" name="Google Shape;3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" name="Google Shape;3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7" name="Google Shape;347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48" name="Google Shape;348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70" name="Google Shape;370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1" name="Google Shape;371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93" name="Google Shape;393;p1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4" name="Google Shape;394;p1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4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6" name="Google Shape;396;p14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5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399" name="Google Shape;399;p15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5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5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15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15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0" name="Google Shape;410;p15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11" name="Google Shape;411;p15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13" name="Google Shape;41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14" name="Google Shape;41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5" name="Google Shape;41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6" name="Google Shape;41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17" name="Google Shape;41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9" name="Google Shape;41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20" name="Google Shape;42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1" name="Google Shape;42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22" name="Google Shape;422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23" name="Google Shape;42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24" name="Google Shape;42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6" name="Google Shape;42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27" name="Google Shape;42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9" name="Google Shape;42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30" name="Google Shape;43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32" name="Google Shape;432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34" name="Google Shape;43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37" name="Google Shape;43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44" name="Google Shape;44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47" name="Google Shape;44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49" name="Google Shape;449;p15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0" name="Google Shape;450;p15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2" name="Google Shape;45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3" name="Google Shape;45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4" name="Google Shape;45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5" name="Google Shape;45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56" name="Google Shape;45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7" name="Google Shape;45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1" name="Google Shape;461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2" name="Google Shape;46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3" name="Google Shape;46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5" name="Google Shape;46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6" name="Google Shape;46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7" name="Google Shape;46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8" name="Google Shape;46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1" name="Google Shape;471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2" name="Google Shape;47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3" name="Google Shape;47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4" name="Google Shape;47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5" name="Google Shape;47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6" name="Google Shape;47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7" name="Google Shape;47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8" name="Google Shape;47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1" name="Google Shape;481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2" name="Google Shape;48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3" name="Google Shape;48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5" name="Google Shape;48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6" name="Google Shape;48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88" name="Google Shape;488;p15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9" name="Google Shape;489;p15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6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492" name="Google Shape;492;p1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93" name="Google Shape;493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5" name="Google Shape;515;p1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6" name="Google Shape;516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38" name="Google Shape;538;p1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39" name="Google Shape;539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1" name="Google Shape;561;p1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2" name="Google Shape;562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84" name="Google Shape;584;p16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5" name="Google Shape;585;p16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6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16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8" name="Google Shape;588;p16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6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6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91" name="Google Shape;591;p16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16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6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6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6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6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6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16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01" name="Google Shape;601;p17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7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7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7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7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7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7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7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7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17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3" name="Google Shape;613;p17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7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18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8" name="Google Shape;618;p18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19" name="Google Shape;619;p18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0" name="Google Shape;620;p18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1" name="Google Shape;621;p18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2" name="Google Shape;622;p18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8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29" name="Google Shape;629;p18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30" name="Google Shape;630;p18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36" name="Google Shape;636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7" name="Google Shape;637;p1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38" name="Google Shape;638;p1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39" name="Google Shape;639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0" name="Google Shape;640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3" name="Google Shape;643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4" name="Google Shape;644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7" name="Google Shape;647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8" name="Google Shape;648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51" name="Google Shape;651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52" name="Google Shape;65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54" name="Google Shape;654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55" name="Google Shape;655;p18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18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7" name="Google Shape;657;p18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18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18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18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18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4" name="Google Shape;664;p19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665" name="Google Shape;665;p19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666" name="Google Shape;666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667" name="Google Shape;66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68" name="Google Shape;66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74" name="Google Shape;67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76" name="Google Shape;676;p19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77" name="Google Shape;67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78" name="Google Shape;67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0" name="Google Shape;68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81" name="Google Shape;68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3" name="Google Shape;68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84" name="Google Shape;68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86" name="Google Shape;686;p19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87" name="Google Shape;68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88" name="Google Shape;68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0" name="Google Shape;69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91" name="Google Shape;69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3" name="Google Shape;69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94" name="Google Shape;69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96" name="Google Shape;696;p19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97" name="Google Shape;69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98" name="Google Shape;69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0" name="Google Shape;70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1" name="Google Shape;70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03" name="Google Shape;703;p19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04" name="Google Shape;704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05" name="Google Shape;70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06" name="Google Shape;70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8" name="Google Shape;70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9" name="Google Shape;70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1" name="Google Shape;711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2" name="Google Shape;712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14" name="Google Shape;714;p19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15" name="Google Shape;71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21" name="Google Shape;721;p19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22" name="Google Shape;722;p19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p19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6" name="Google Shape;726;p19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7" name="Google Shape;727;p19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8" name="Google Shape;728;p19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9" name="Google Shape;729;p19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19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0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36" name="Google Shape;736;p20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37" name="Google Shape;737;p20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20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39" name="Google Shape;739;p20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40" name="Google Shape;740;p20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20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20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20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20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20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20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7" name="Google Shape;747;p20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8" name="Google Shape;748;p20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20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0" name="Google Shape;750;p20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1" name="Google Shape;751;p20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20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0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0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55" name="Google Shape;755;p20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756" name="Google Shape;756;p20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57" name="Google Shape;757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58" name="Google Shape;75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59" name="Google Shape;75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0" name="Google Shape;76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1" name="Google Shape;76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2" name="Google Shape;76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3" name="Google Shape;76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4" name="Google Shape;76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5" name="Google Shape;76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6" name="Google Shape;76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67" name="Google Shape;767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68" name="Google Shape;76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9" name="Google Shape;76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0" name="Google Shape;77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1" name="Google Shape;77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2" name="Google Shape;77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3" name="Google Shape;77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4" name="Google Shape;77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5" name="Google Shape;77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6" name="Google Shape;77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77" name="Google Shape;777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78" name="Google Shape;77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9" name="Google Shape;77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0" name="Google Shape;78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1" name="Google Shape;78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2" name="Google Shape;78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3" name="Google Shape;78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4" name="Google Shape;78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5" name="Google Shape;78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6" name="Google Shape;78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87" name="Google Shape;787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788" name="Google Shape;78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9" name="Google Shape;78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1" name="Google Shape;79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2" name="Google Shape;79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3" name="Google Shape;79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794" name="Google Shape;794;p20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95" name="Google Shape;795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96" name="Google Shape;79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7" name="Google Shape;79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8" name="Google Shape;79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9" name="Google Shape;79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0" name="Google Shape;80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1" name="Google Shape;80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2" name="Google Shape;80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3" name="Google Shape;80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4" name="Google Shape;80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05" name="Google Shape;805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6" name="Google Shape;80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5" name="Google Shape;815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6" name="Google Shape;81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2" name="Google Shape;82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3" name="Google Shape;82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4" name="Google Shape;82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5" name="Google Shape;825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26" name="Google Shape;82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32" name="Google Shape;832;p20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20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" name="Google Shape;834;p20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5" name="Google Shape;835;p20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6" name="Google Shape;836;p20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7" name="Google Shape;837;p20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8" name="Google Shape;838;p20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39" name="Google Shape;839;p20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0" name="Google Shape;840;p20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41" name="Google Shape;841;p20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2" name="Google Shape;842;p20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2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45" name="Google Shape;845;p2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2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2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2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2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0" name="Google Shape;850;p2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4" name="Google Shape;854;p2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2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56" name="Google Shape;856;p21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7" name="Google Shape;857;p21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58" name="Google Shape;858;p21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9" name="Google Shape;859;p21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0" name="Google Shape;860;p21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1" name="Google Shape;861;p21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2" name="Google Shape;862;p21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3" name="Google Shape;863;p21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4" name="Google Shape;864;p21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5" name="Google Shape;865;p21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6" name="Google Shape;866;p21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7" name="Google Shape;867;p21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71" name="Google Shape;871;p22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872" name="Google Shape;872;p22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73" name="Google Shape;873;p22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23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2" name="Google Shape;882;p23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3" name="Google Shape;883;p23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23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5" name="Google Shape;885;p23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88" name="Google Shape;8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9" name="Google Shape;8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0" name="Google Shape;8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897" name="Google Shape;8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8" name="Google Shape;898;p2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899" name="Google Shape;899;p2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00" name="Google Shape;9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1" name="Google Shape;9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4" name="Google Shape;9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5" name="Google Shape;9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8" name="Google Shape;9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9" name="Google Shape;9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12" name="Google Shape;9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13" name="Google Shape;9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15" name="Google Shape;9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16" name="Google Shape;916;p2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24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4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4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4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2" name="Google Shape;922;p24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3" name="Google Shape;923;p24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4" name="Google Shape;924;p24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5" name="Google Shape;925;p24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8" name="Google Shape;92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3" name="Google Shape;9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6" name="Google Shape;93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7" name="Google Shape;93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2" name="Google Shape;94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7" name="Google Shape;94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8" name="Google Shape;94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3" name="Google Shape;953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7" name="Google Shape;957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8" name="Google Shape;958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9" name="Google Shape;959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2" name="Google Shape;962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5" name="Google Shape;965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6" name="Google Shape;966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0" name="Google Shape;97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7" name="Google Shape;977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3" name="Google Shape;98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6" name="Google Shape;98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9" name="Google Shape;98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4" name="Google Shape;99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7" name="Google Shape;99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9" name="Google Shape;9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1" name="Google Shape;100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3" name="Google Shape;101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olab.research.google.com/drive/1ZMIC5ITevgfcy4mlRNeUg7X4tN8EDK7N#scrollTo=5ff0xlNHfl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Linear Regression</a:t>
            </a:r>
            <a:endParaRPr/>
          </a:p>
        </p:txBody>
      </p:sp>
      <p:sp>
        <p:nvSpPr>
          <p:cNvPr id="1021" name="Google Shape;1021;p45"/>
          <p:cNvSpPr txBox="1"/>
          <p:nvPr>
            <p:ph idx="2" type="title"/>
          </p:nvPr>
        </p:nvSpPr>
        <p:spPr>
          <a:xfrm rot="-53728">
            <a:off x="5546896" y="32285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Algo </a:t>
            </a:r>
            <a:endParaRPr/>
          </a:p>
        </p:txBody>
      </p:sp>
      <p:sp>
        <p:nvSpPr>
          <p:cNvPr id="1022" name="Google Shape;1022;p45"/>
          <p:cNvSpPr txBox="1"/>
          <p:nvPr>
            <p:ph idx="1" type="body"/>
          </p:nvPr>
        </p:nvSpPr>
        <p:spPr>
          <a:xfrm>
            <a:off x="2655375" y="3960275"/>
            <a:ext cx="4264500" cy="6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>
                <a:latin typeface="Manrope Medium"/>
                <a:ea typeface="Manrope Medium"/>
                <a:cs typeface="Manrope Medium"/>
                <a:sym typeface="Manrope Medium"/>
              </a:rPr>
              <a:t>Why Regresion?....</a:t>
            </a:r>
            <a:endParaRPr sz="12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>
                <a:latin typeface="Manrope Medium"/>
                <a:ea typeface="Manrope Medium"/>
                <a:cs typeface="Manrope Medium"/>
                <a:sym typeface="Manrope Medium"/>
              </a:rPr>
              <a:t>We use Regression for c</a:t>
            </a:r>
            <a:r>
              <a:rPr lang="en" sz="1200">
                <a:latin typeface="Manrope Medium"/>
                <a:ea typeface="Manrope Medium"/>
                <a:cs typeface="Manrope Medium"/>
                <a:sym typeface="Manrope Medium"/>
              </a:rPr>
              <a:t>ontinuous</a:t>
            </a:r>
            <a:r>
              <a:rPr lang="en" sz="1200">
                <a:latin typeface="Manrope Medium"/>
                <a:ea typeface="Manrope Medium"/>
                <a:cs typeface="Manrope Medium"/>
                <a:sym typeface="Manrope Medium"/>
              </a:rPr>
              <a:t> real values cuz we can’t </a:t>
            </a:r>
            <a:r>
              <a:rPr lang="en" sz="1200">
                <a:latin typeface="Manrope Medium"/>
                <a:ea typeface="Manrope Medium"/>
                <a:cs typeface="Manrope Medium"/>
                <a:sym typeface="Manrope Medium"/>
              </a:rPr>
              <a:t>classify</a:t>
            </a:r>
            <a:r>
              <a:rPr lang="en" sz="1200">
                <a:latin typeface="Manrope Medium"/>
                <a:ea typeface="Manrope Medium"/>
                <a:cs typeface="Manrope Medium"/>
                <a:sym typeface="Manrope Medium"/>
              </a:rPr>
              <a:t> it.</a:t>
            </a:r>
            <a:endParaRPr sz="1200"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23" name="Google Shape;1023;p45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ML</a:t>
            </a:r>
            <a:endParaRPr/>
          </a:p>
        </p:txBody>
      </p:sp>
      <p:sp>
        <p:nvSpPr>
          <p:cNvPr id="1024" name="Google Shape;1024;p45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Supervised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6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01.</a:t>
            </a:r>
            <a:r>
              <a:rPr lang="en" sz="1800"/>
              <a:t> What is Linear Regression?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02.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Why we use it?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03.</a:t>
            </a:r>
            <a:r>
              <a:rPr lang="en" sz="1800"/>
              <a:t> How it works?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04.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Types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05.</a:t>
            </a:r>
            <a:r>
              <a:rPr lang="en" sz="1800"/>
              <a:t> Simple Linear Regression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06.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Multiple Linear Regression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07.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Limitations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08.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Real World Use Case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09.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Task</a:t>
            </a:r>
            <a:endParaRPr sz="1800"/>
          </a:p>
        </p:txBody>
      </p:sp>
      <p:sp>
        <p:nvSpPr>
          <p:cNvPr id="1030" name="Google Shape;1030;p46"/>
          <p:cNvSpPr txBox="1"/>
          <p:nvPr>
            <p:ph type="title"/>
          </p:nvPr>
        </p:nvSpPr>
        <p:spPr>
          <a:xfrm rot="-289032">
            <a:off x="587354" y="485945"/>
            <a:ext cx="2318490" cy="5696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CHECK POINTS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35" name="Google Shape;103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40" name="Google Shape;10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45" name="Google Shape;104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50" name="Google Shape;10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55" name="Google Shape;10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60" name="Google Shape;106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65" name="Google Shape;106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. What is Linear Regression?&#10;&#10;Definition of Linear Regression&#10;&#10;Explanation of supervised learning&#10;&#10;Relationship between independent and dependent variables&#10;&#10;Mathematical equation (y = mx + c)&#10;&#10;Visual illustration of best-fit line&#10;&#10;02. Why We Use Linear Regression?&#10;&#10;Purpose of prediction&#10;&#10;Importance in machine learning&#10;&#10;Interpretability and simplicity&#10;&#10;Role as a baseline model&#10;&#10;Practical relevance in industry&#10;&#10;03. How Linear Regression Works?&#10;&#10;Data collection and labeling&#10;&#10;Model assumption (linearity)&#10;&#10;Loss function (Mean Squared Error)&#10;&#10;Optimization techniques (Least Squares, Gradient Descent)&#10;&#10;Training vs prediction workflow (diagram)&#10;&#10;04. Types of Linear Regression&#10;&#10;Simple Linear Regression&#10;&#10;Multiple Linear Regression&#10;&#10;Comparison table&#10;&#10;05. Simple Linear Regression&#10;&#10;Definition&#10;&#10;Equation and explanation of slope &amp; intercept&#10;&#10;Graphical representation&#10;&#10;Example (e.g., study hours vs marks)&#10;&#10;06. Multiple Linear Regression&#10;&#10;Definition&#10;&#10;Equation with multiple variables&#10;&#10;Explanation of coefficients&#10;&#10;Example (e.g., house price prediction)&#10;&#10;07. Limitations of Linear Regression&#10;&#10;Linearity assumption&#10;&#10;Sensitivity to outliers&#10;&#10;Multicollinearity&#10;&#10;Underfitting&#10;&#10;Poor performance on complex data&#10;&#10;08. Real-World Use Cases&#10;&#10;Business &amp; sales forecasting&#10;&#10;Healthcare cost prediction&#10;&#10;Real estate price estimation&#10;&#10;Finance and risk analysis&#10;&#10;Education performance prediction" id="1070" name="Google Shape;107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55"/>
          <p:cNvSpPr txBox="1"/>
          <p:nvPr/>
        </p:nvSpPr>
        <p:spPr>
          <a:xfrm>
            <a:off x="401925" y="457200"/>
            <a:ext cx="995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Task:</a:t>
            </a:r>
            <a:endParaRPr b="1" sz="2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6" name="Google Shape;1076;p55"/>
          <p:cNvSpPr/>
          <p:nvPr/>
        </p:nvSpPr>
        <p:spPr>
          <a:xfrm>
            <a:off x="1894675" y="1472050"/>
            <a:ext cx="5004000" cy="23742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Click to View</a:t>
            </a:r>
            <a:endParaRPr sz="19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